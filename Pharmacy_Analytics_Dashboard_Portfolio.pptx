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B2E"/>
    <a:srgbClr val="122A3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6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tmp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tmp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2D1B2F14-6210-A56A-5BD2-149F0269738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114800" cy="150876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0.01087</cdr:x>
      <cdr:y>0</cdr:y>
    </cdr:from>
    <cdr:to>
      <cdr:x>0.99348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7A808513-6251-5C23-D600-BD99E88A12EC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5720" y="-1335024"/>
          <a:ext cx="4133088" cy="1719072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5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3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tmp"/><Relationship Id="rId5" Type="http://schemas.openxmlformats.org/officeDocument/2006/relationships/image" Target="../media/image15.tmp"/><Relationship Id="rId4" Type="http://schemas.openxmlformats.org/officeDocument/2006/relationships/image" Target="../media/image14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tmp"/><Relationship Id="rId4" Type="http://schemas.openxmlformats.org/officeDocument/2006/relationships/image" Target="../media/image19.tm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097280"/>
            <a:ext cx="3474720" cy="347472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731520"/>
            <a:ext cx="2377440" cy="237744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Analytics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Power BI solution for pharmacy sales performance,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insights &amp; regional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429768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0320" y="374904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840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23160" y="429768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480560" y="374904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43400" y="429768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400800" y="374904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84048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3640" y="429768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Dhivya Priya 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3258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4173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34440" y="2240280"/>
            <a:ext cx="914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&amp; Dimension tables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DimDate, DimPharmacy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DimProduct, FactSales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Measure-Ph (KPIs)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13258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4173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Features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206240" y="2240280"/>
            <a:ext cx="914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352044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calc columns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&amp; filters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Cross-report drill through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3‑page tab navigation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6364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0" y="13258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41732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178040" y="2240280"/>
            <a:ext cx="914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7"/>
          <p:cNvSpPr/>
          <p:nvPr/>
        </p:nvSpPr>
        <p:spPr>
          <a:xfrm>
            <a:off x="649224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 &amp; margins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regions &amp; brands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seasonal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promo impact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Sales Dashboard  | 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97280"/>
            <a:ext cx="1664208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€ 8.63M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914400" cy="2011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65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4.6%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1664208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20700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48840" y="14447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446K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148840" y="1847088"/>
            <a:ext cx="914400" cy="2011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865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5.0%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94760" y="1097280"/>
            <a:ext cx="1664208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20700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31920" y="14447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€ 138.95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931920" y="1847088"/>
            <a:ext cx="914400" cy="2011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1865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4.7%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1097280"/>
            <a:ext cx="1664208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20700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%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15000" y="14447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28.04%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715000" y="1847088"/>
            <a:ext cx="914400" cy="2011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1865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4.7%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60920" y="1097280"/>
            <a:ext cx="1664208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20700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Revenue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98080" y="14447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€ 911.30K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498080" y="1847088"/>
            <a:ext cx="914400" cy="2011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865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4.6%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2423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show positive year-over-year growth – a strong signal of business health across the network.</a:t>
            </a:r>
            <a:endParaRPr lang="en-US" sz="1100" b="1" i="1" dirty="0">
              <a:solidFill>
                <a:srgbClr val="002060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39" y="2830068"/>
            <a:ext cx="4833851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880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(Quarterly)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321808" y="2834640"/>
            <a:ext cx="35478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95544" y="28483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Sales Patterns</a:t>
            </a:r>
            <a:endParaRPr lang="en-US" sz="1100" dirty="0"/>
          </a:p>
        </p:txBody>
      </p:sp>
      <p:graphicFrame>
        <p:nvGraphicFramePr>
          <p:cNvPr id="36" name="Chart 1"/>
          <p:cNvGraphicFramePr/>
          <p:nvPr>
            <p:extLst>
              <p:ext uri="{D42A27DB-BD31-4B8C-83A1-F6EECF244321}">
                <p14:modId xmlns:p14="http://schemas.microsoft.com/office/powerpoint/2010/main" val="2106195518"/>
              </p:ext>
            </p:extLst>
          </p:nvPr>
        </p:nvGraphicFramePr>
        <p:xfrm>
          <a:off x="5577840" y="3127248"/>
          <a:ext cx="324612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Sales Dashboard  |  Portfolio Project</a:t>
            </a:r>
            <a:endParaRPr lang="en-US" sz="8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70D4892-B81A-F068-FC0B-9B78C4A47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08960"/>
            <a:ext cx="4613564" cy="1545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 – Regional &amp; Product Mix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251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 (Top Cities)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212159422"/>
              </p:ext>
            </p:extLst>
          </p:nvPr>
        </p:nvGraphicFramePr>
        <p:xfrm>
          <a:off x="301752" y="1335024"/>
          <a:ext cx="4206240" cy="1719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005840"/>
            <a:ext cx="4206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vs. Non-Generic Revenue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" y="329184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11480" y="33832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" y="3401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Impact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11480" y="3749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products drive €2.2M revenue but yield only €0.1M margin – high volume, thin margin.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218688" y="329184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355848" y="33832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4747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77056" y="3401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Non-Promo Margin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3355848" y="3749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Non-promo items generate €0.4M units at €0.1M margin – smaller volume, healthier returns.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163056" y="329184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300216" y="33832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47472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21424" y="3401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300216" y="3749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85.4% revenue comes from non-generic products; generic products contribute a smaller but growing share.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Sales Dashboard  |  Portfolio Project</a:t>
            </a:r>
            <a:endParaRPr lang="en-US" sz="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6003E2D-7878-1158-3DBC-A35D1423D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0719" y="1363833"/>
            <a:ext cx="2478826" cy="16994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 – Categories &amp;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657600" cy="17682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18032"/>
            <a:ext cx="31976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82807" y="2936748"/>
            <a:ext cx="4434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2936748"/>
            <a:ext cx="4251960" cy="19849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160520" y="1012071"/>
            <a:ext cx="4857127" cy="17916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1100595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54122" y="296098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83" y="2997560"/>
            <a:ext cx="210016" cy="2100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5660" y="2950735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vs. Low Margin Insight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800600" y="2997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Brand (Top 7)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Sales Dashboard  |  Portfolio Project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F9C147-466E-F0EE-29A2-9482F3C31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1276693"/>
            <a:ext cx="2448098" cy="14104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8EA7B1A-4648-2F2C-A416-DC9B389B8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900" y="1361826"/>
            <a:ext cx="4396301" cy="12535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BE00521-592B-957D-B0B5-910BA38FD7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4630" y="3288791"/>
            <a:ext cx="3985050" cy="160324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00DDE2-2620-DEA0-9DE2-D1697EE389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255" y="3234617"/>
            <a:ext cx="3887585" cy="12661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2509" y="4538437"/>
            <a:ext cx="4117391" cy="3832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reveals that Medical Devices and OTC products cluster at high volume but moderate margins (20‑30%). Prescription products show the highest margins despite lower volumes, making them critical profit drivers.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Analysis – Network &amp; Type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926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789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Type Split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00584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0440" y="10789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Type Comparison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6432" y="1389888"/>
          <a:ext cx="5321808" cy="144475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9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Txn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€ 13,99,382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74,944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Suburban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€ 31,09,295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1,58,564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€ 41,25,299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2,12,285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€ 86,33,978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4,45,793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3154680"/>
            <a:ext cx="5303520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5280" y="31181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Pharmacies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806440" y="3154680"/>
            <a:ext cx="3108960" cy="1600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Shape 10"/>
          <p:cNvSpPr/>
          <p:nvPr/>
        </p:nvSpPr>
        <p:spPr>
          <a:xfrm>
            <a:off x="5943600" y="324612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3375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43600" y="3794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Insight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943600" y="4069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pharmacies lead in revenue (€41.2M) and volume. Munich HealthPoint is the top earner at €71,950, followed closely by Rotterdam and Utrecht.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Sales Dashboard  |  Portfolio Project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7C86DAC-BF2C-374D-141C-A6B7FBFE4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55" y="1346265"/>
            <a:ext cx="2659610" cy="14555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D671FA6-54D4-3D54-F9D6-5ABC30D06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37560"/>
            <a:ext cx="4585855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4297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16128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2527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1795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Growth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1554480"/>
            <a:ext cx="3986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KPIs show upward YoY trends (4.6–5.0%), indicating healthy and sustainable business expansion across the pharmacy network.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4297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64608" y="116128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2527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11795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is King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64608" y="1554480"/>
            <a:ext cx="3986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products account for 32.4% of revenue – the largest category – and deliver the highest margins, making them the primary profit engine.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274320" y="2377440"/>
            <a:ext cx="4297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9768" y="248716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5786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8408" y="2505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Dominance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29768" y="2880360"/>
            <a:ext cx="3986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pharmacies generate €41.25M (48%) of total revenue with the highest average transaction value (€139.59), driving network profitability.</a:t>
            </a:r>
            <a:endParaRPr lang="en-US" sz="880" dirty="0"/>
          </a:p>
        </p:txBody>
      </p:sp>
      <p:sp>
        <p:nvSpPr>
          <p:cNvPr id="20" name="Shape 15"/>
          <p:cNvSpPr/>
          <p:nvPr/>
        </p:nvSpPr>
        <p:spPr>
          <a:xfrm>
            <a:off x="4709160" y="2377440"/>
            <a:ext cx="4297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64608" y="248716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5786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3248" y="2505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Peaks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64608" y="2880360"/>
            <a:ext cx="3986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and summer months (Jun–Aug) show peak sales, likely driven by seasonal ailments and holiday purchasing behaviour.</a:t>
            </a:r>
            <a:endParaRPr lang="en-US" sz="880" dirty="0"/>
          </a:p>
        </p:txBody>
      </p:sp>
      <p:sp>
        <p:nvSpPr>
          <p:cNvPr id="25" name="Shape 19"/>
          <p:cNvSpPr/>
          <p:nvPr/>
        </p:nvSpPr>
        <p:spPr>
          <a:xfrm>
            <a:off x="274320" y="3703320"/>
            <a:ext cx="4297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29768" y="381304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90448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8408" y="38313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Strategy Review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29768" y="4206240"/>
            <a:ext cx="3986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campaigns drive high volume but thin margins. A cost-benefit analysis is recommended before scaling promo spend.</a:t>
            </a:r>
            <a:endParaRPr lang="en-US" sz="880" dirty="0"/>
          </a:p>
        </p:txBody>
      </p:sp>
      <p:sp>
        <p:nvSpPr>
          <p:cNvPr id="30" name="Shape 23"/>
          <p:cNvSpPr/>
          <p:nvPr/>
        </p:nvSpPr>
        <p:spPr>
          <a:xfrm>
            <a:off x="4709160" y="3703320"/>
            <a:ext cx="4297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864608" y="381304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90448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13248" y="38313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Concentration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864608" y="4206240"/>
            <a:ext cx="3986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 brands (AntiBioX, GlucoSafe, etc.) collectively represent significant revenue – diversification could reduce risk.</a:t>
            </a:r>
            <a:endParaRPr lang="en-US" sz="880" dirty="0"/>
          </a:p>
        </p:txBody>
      </p:sp>
      <p:sp>
        <p:nvSpPr>
          <p:cNvPr id="35" name="Text 2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Sales Dashboard  | 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 &amp; 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 –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07899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0972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0789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revenue, units sold, and margin change over time — any seasonal patterns?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3533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steadily from €1.05M (Q1 '24) to €1.22M (Q4 '25) with a brief Q1 '25 dip. Units sold rose 5.0 % YoY and margin held at 28.04 %. Clear seasonal peaks appear in Jun–Aug and December, driven by seasonal ailments and holiday demand.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425196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" y="20116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0299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20208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&amp; regions contribute most to revenue and margin?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2860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Munich (€500K), Brussels (€460K) and Hamburg (€420K) lead. Bavaria and Auvergne-Rhône-Alpes are top regional contributors, together accounting for the highest combined revenue and margin share.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901952"/>
            <a:ext cx="420624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828032" y="20116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20299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5232" y="202082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performance vary country → region → pharmacy?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8032" y="228600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reveals large within-region variance. Munich HealthPoint (€71,950) far outperforms other Bavarian pharmacies. Cross-report drill-through enables this top-down decomposition in the live dashboard.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425196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" y="305409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0723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3063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pharmacies outperform or underperform vs. peers?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32841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Munich, Rotterdam and Utrecht HealthPoints consistently exceed regional averages. Several rural pharmacies fall below the €137 avg-transaction benchmark, flagging them for targeted support or review.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944368"/>
            <a:ext cx="420624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4828032" y="305409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30723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85232" y="30632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Urban, Suburban &amp; Rural pharmacies differ?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8032" y="332841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(50 stores) leads with €41.25M revenue &amp; €139.59 avg txn. Suburban (47) is close at €31.09M. Rural (23) contributes €14.0M but holds the best margin (28.08 %), showing strong unit economics at lower scale.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986784"/>
            <a:ext cx="2057400" cy="658368"/>
          </a:xfrm>
          <a:prstGeom prst="rect">
            <a:avLst/>
          </a:prstGeom>
          <a:solidFill>
            <a:srgbClr val="122A3E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0233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€8.63M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274320" y="431596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91740" y="3986784"/>
            <a:ext cx="2057400" cy="658368"/>
          </a:xfrm>
          <a:prstGeom prst="rect">
            <a:avLst/>
          </a:prstGeom>
          <a:solidFill>
            <a:srgbClr val="122A3E"/>
          </a:solidFill>
          <a:ln/>
        </p:spPr>
      </p:sp>
      <p:sp>
        <p:nvSpPr>
          <p:cNvPr id="34" name="Text 32"/>
          <p:cNvSpPr/>
          <p:nvPr/>
        </p:nvSpPr>
        <p:spPr>
          <a:xfrm>
            <a:off x="2491740" y="40233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446K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491740" y="431596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09160" y="3986784"/>
            <a:ext cx="2057400" cy="658368"/>
          </a:xfrm>
          <a:prstGeom prst="rect">
            <a:avLst/>
          </a:prstGeom>
          <a:solidFill>
            <a:srgbClr val="122A3E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40233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28.04%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709160" y="431596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926580" y="3986784"/>
            <a:ext cx="2057400" cy="658368"/>
          </a:xfrm>
          <a:prstGeom prst="rect">
            <a:avLst/>
          </a:prstGeom>
          <a:solidFill>
            <a:srgbClr val="122A3E"/>
          </a:solidFill>
          <a:ln/>
        </p:spPr>
      </p:sp>
      <p:sp>
        <p:nvSpPr>
          <p:cNvPr id="40" name="Text 38"/>
          <p:cNvSpPr/>
          <p:nvPr/>
        </p:nvSpPr>
        <p:spPr>
          <a:xfrm>
            <a:off x="6926580" y="40233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926580" y="431596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41248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 &amp; 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6 –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07899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0972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0789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&amp; brands generate the most revenue and margin?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3533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leads at 32.4 % of revenue and the highest margin band. AntiBioX, GlucoSafe and NuroPlus are the top-3 brands. PainLess Throat Lozenges is the single highest-revenue SKU (€92,701 / 6,722 units).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425196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" y="20116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0299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20208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/ low margin or low volume / high margin products?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2860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&amp; Medical Devices cluster at high volume (4,000–6,000 units) but margins of only 20–25 %. Prescription products sit at lower volume yet 30–35 % margins — the classic high-margin niche that props up overall profitability.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901952"/>
            <a:ext cx="420624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828032" y="20116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20299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5232" y="202082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vs. non-promoted sales — volume &amp; margin?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8032" y="228600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 push volume to €2.2M but yield only €0.1M margin (thin spread). Non-promo items generate €0.4M at €0.1M margin — fewer units but healthier returns. Total promo revenue is €911.3K, signalling a need for ROI re-evaluation.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425196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" y="305409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0723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3063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regional performance contribute to overall results?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32841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Bavaria and Auvergne-Rhône-Alpes anchor overall results. Munich alone contributes ~€500K. Regions with 3+ high-performing pharmacies (e.g., Bavaria) deliver disproportionate revenue, making them strategic expansion targets.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944368"/>
            <a:ext cx="420624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4828032" y="305409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30723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85232" y="30632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patterns in sales or profitability on a map?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8032" y="332841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Europe (Netherlands, Belgium, Germany) forms a dense high-revenue corridor. Southern &amp; Eastern regions lag in both volume and margin. A map visual in the dashboard confirms clustering — expansion into adjacent Western cities would leverage existing logistics.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986784"/>
            <a:ext cx="8595360" cy="713232"/>
          </a:xfrm>
          <a:prstGeom prst="rect">
            <a:avLst/>
          </a:prstGeom>
          <a:solidFill>
            <a:srgbClr val="0F2E42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413308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87552" y="41330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7552" y="4352544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promo ROI  •  Expand into Western-EU adjacencies  •  Support underperforming rural pharmacies  •  Grow Prescription category share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412480" y="4754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548640"/>
            <a:ext cx="2011680" cy="201168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463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2468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Analytics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31546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24612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76272" y="3675888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520440" y="31546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3675888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754880" y="31546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24612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45152" y="3675888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989320" y="315468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24612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79592" y="3675888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0" y="4160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 •  Portfolio Project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0" y="45720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Dhivya Priya 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1165</Words>
  <Application>Microsoft Office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Sales Dashboard – Portfolio</dc:title>
  <dc:subject>PptxGenJS Presentation</dc:subject>
  <dc:creator>Dhivya Priya</dc:creator>
  <cp:lastModifiedBy>Dhivya Priya Bosco</cp:lastModifiedBy>
  <cp:revision>3</cp:revision>
  <dcterms:created xsi:type="dcterms:W3CDTF">2026-02-03T11:20:25Z</dcterms:created>
  <dcterms:modified xsi:type="dcterms:W3CDTF">2026-02-07T18:10:08Z</dcterms:modified>
</cp:coreProperties>
</file>